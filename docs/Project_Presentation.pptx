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8E99"/>
                </a:solidFill>
              </a:defRPr>
            </a:pPr>
            <a:r>
              <a:t>MACHINE LEARNING • PROBLEM-BASED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Online Game Price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Course: Machine Learning (PBL)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Saish Nehe — 2124UMLM1051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Nikhil Jadhav — 2124UMLM1096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Omprakash Wagh — 2124UMLM1073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Tushar Borawake — 2124UMLM1037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2"/>
                </a:solidFill>
              </a:defRPr>
            </a:pPr>
            <a:r>
              <a:t>Machine Learning PBL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E99"/>
                </a:solidFill>
              </a:defRPr>
            </a:pPr>
            <a:r>
              <a:t>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4E"/>
                </a:solidFill>
              </a:defRPr>
            </a:pPr>
            <a:r>
              <a:t>Problem and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Estimate the observed Steam game price from game characteristics.</a:t>
            </a:r>
          </a:p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Use a labelled public dataset and compare regression algorithms.</a:t>
            </a:r>
          </a:p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Provide an interactive Streamlit interface for educational demonstration.</a:t>
            </a:r>
          </a:p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The target is the dataset snapshot price in euros, not a live or future quote.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2"/>
                </a:solidFill>
              </a:defRPr>
            </a:pPr>
            <a:r>
              <a:t>Machine Learning PBL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E99"/>
                </a:solidFill>
              </a:defRPr>
            </a:pPr>
            <a:r>
              <a:t>DATA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4E"/>
                </a:solidFill>
              </a:defRPr>
            </a:pPr>
            <a:r>
              <a:t>Dataset and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Source: Steam Games - UOC Project on Zenodo (DOI: 10.5281/zenodo.15121027).</a:t>
            </a:r>
          </a:p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Record describes 3,537 games collected in March 2025 from the Spanish-language Steam store.</a:t>
            </a:r>
          </a:p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Target: price (EUR). Inputs: genres, launch_year, reviews, general_reviews.</a:t>
            </a:r>
          </a:p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Exclude discount and original_price from predictors to reduce target leakage.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2"/>
                </a:solidFill>
              </a:defRPr>
            </a:pPr>
            <a:r>
              <a:t>Machine Learning PBL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E99"/>
                </a:solidFill>
              </a:defRPr>
            </a:pPr>
            <a:r>
              <a:t>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4E"/>
                </a:solidFill>
              </a:defRPr>
            </a:pPr>
            <a:r>
              <a:t>Preprocessing and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Inspect data types, missing values, duplicates, and scraping-error flags.</a:t>
            </a:r>
          </a:p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Parse European price formats and convert review counts to numeric values.</a:t>
            </a:r>
          </a:p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Extract launch year and impute missing values within model pipelines.</a:t>
            </a:r>
          </a:p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Create price distribution, genre summary, and reviews-versus-price charts.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2"/>
                </a:solidFill>
              </a:defRPr>
            </a:pPr>
            <a:r>
              <a:t>Machine Learning PBL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E99"/>
                </a:solidFill>
              </a:defRPr>
            </a:pPr>
            <a:r>
              <a:t>MODEL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4E"/>
                </a:solidFill>
              </a:defRPr>
            </a:pPr>
            <a:r>
              <a:t>Models and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Median baseline and Ridge Regression.</a:t>
            </a:r>
          </a:p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Decision Tree Regressor, Random Forest Regressor, and Extra Trees Regressor.</a:t>
            </a:r>
          </a:p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Use an 80/20 train-test split with a fixed random seed.</a:t>
            </a:r>
          </a:p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Select the model by lowest mean 5-fold cross-validation MAE on training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2"/>
                </a:solidFill>
              </a:defRPr>
            </a:pPr>
            <a:r>
              <a:t>Machine Learning PBL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E99"/>
                </a:solidFill>
              </a:defRPr>
            </a:pPr>
            <a:r>
              <a:t>MODEL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4E"/>
                </a:solidFill>
              </a:defRPr>
            </a:pPr>
            <a: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340"/>
                </a:solidFill>
              </a:defRPr>
            </a:pPr>
            <a:r>
              <a:t>MAE: average absolute prediction error in euros.</a:t>
            </a:r>
          </a:p>
          <a:p>
            <a:pPr>
              <a:spcAft>
                <a:spcPts val="1300"/>
              </a:spcAft>
              <a:defRPr sz="1800">
                <a:solidFill>
                  <a:srgbClr val="283340"/>
                </a:solidFill>
              </a:defRPr>
            </a:pPr>
            <a:r>
              <a:t>RMSE: penalises larger prediction errors more strongly.</a:t>
            </a:r>
          </a:p>
          <a:p>
            <a:pPr>
              <a:spcAft>
                <a:spcPts val="1300"/>
              </a:spcAft>
              <a:defRPr sz="1800">
                <a:solidFill>
                  <a:srgbClr val="283340"/>
                </a:solidFill>
              </a:defRPr>
            </a:pPr>
            <a:r>
              <a:t>R²: describes explained variation in the held-out test set.</a:t>
            </a:r>
          </a:p>
          <a:p>
            <a:pPr>
              <a:spcAft>
                <a:spcPts val="1300"/>
              </a:spcAft>
              <a:defRPr sz="1800">
                <a:solidFill>
                  <a:srgbClr val="283340"/>
                </a:solidFill>
              </a:defRPr>
            </a:pPr>
            <a:r>
              <a:t>Insert actual results from reports/model_comparison.csv and reports/test_metrics.json after running training.</a:t>
            </a:r>
          </a:p>
          <a:p>
            <a:pPr>
              <a:spcAft>
                <a:spcPts val="1300"/>
              </a:spcAft>
              <a:defRPr sz="1800">
                <a:solidFill>
                  <a:srgbClr val="283340"/>
                </a:solidFill>
              </a:defRPr>
            </a:pPr>
            <a:r>
              <a:t>No performance score is claimed before experiments are executed.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2"/>
                </a:solidFill>
              </a:defRPr>
            </a:pPr>
            <a:r>
              <a:t>Machine Learning PBL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E99"/>
                </a:solidFill>
              </a:defRPr>
            </a:pPr>
            <a: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4E"/>
                </a:solidFill>
              </a:defRPr>
            </a:pPr>
            <a:r>
              <a:t>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Streamlit form accepts genre, launch year, review count, and review summary.</a:t>
            </a:r>
          </a:p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Loads the trained pipeline and metadata produced by the training script.</a:t>
            </a:r>
          </a:p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Displays predicted price and measured test metrics.</a:t>
            </a:r>
          </a:p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Not a live Steam checker; users must check the official store for current regional prices.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2"/>
                </a:solidFill>
              </a:defRPr>
            </a:pPr>
            <a:r>
              <a:t>Machine Learning PBL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E99"/>
                </a:solidFill>
              </a:defRPr>
            </a:pPr>
            <a:r>
              <a:t>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4E"/>
                </a:solidFill>
              </a:defRPr>
            </a:pPr>
            <a:r>
              <a:t>Plan and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1. Setup environment and download data.  2. Inspect and clean.  3. Perform EDA.</a:t>
            </a:r>
          </a:p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4. Engineer features and compare models.  5. Evaluate the selected model on test data.</a:t>
            </a:r>
          </a:p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6. Build and test the Streamlit app.  7. Finish report, notebook, presentation, and README.</a:t>
            </a:r>
          </a:p>
          <a:p>
            <a:pPr>
              <a:spcAft>
                <a:spcPts val="1300"/>
              </a:spcAft>
              <a:defRPr sz="2000">
                <a:solidFill>
                  <a:srgbClr val="283340"/>
                </a:solidFill>
              </a:defRPr>
            </a:pPr>
            <a:r>
              <a:t>Covers all 10 evaluation criteria: problem, data, cleaning, EDA, features, models, evaluation, insights, deployment, documentation.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2"/>
                </a:solidFill>
              </a:defRPr>
            </a:pPr>
            <a:r>
              <a:t>Machine Learning PBL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E99"/>
                </a:solidFill>
              </a:defRPr>
            </a:pPr>
            <a:r>
              <a:t>FINAL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4E"/>
                </a:solidFill>
              </a:defRPr>
            </a:pPr>
            <a: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340"/>
                </a:solidFill>
              </a:defRPr>
            </a:pPr>
            <a:r>
              <a:t>Executable Jupyter Notebook and Python source code.</a:t>
            </a:r>
          </a:p>
          <a:p>
            <a:pPr>
              <a:spcAft>
                <a:spcPts val="1300"/>
              </a:spcAft>
              <a:defRPr sz="1800">
                <a:solidFill>
                  <a:srgbClr val="283340"/>
                </a:solidFill>
              </a:defRPr>
            </a:pPr>
            <a:r>
              <a:t>Dataset source link, data dictionary, preprocessing and EDA visualisations.</a:t>
            </a:r>
          </a:p>
          <a:p>
            <a:pPr>
              <a:spcAft>
                <a:spcPts val="1300"/>
              </a:spcAft>
              <a:defRPr sz="1800">
                <a:solidFill>
                  <a:srgbClr val="283340"/>
                </a:solidFill>
              </a:defRPr>
            </a:pPr>
            <a:r>
              <a:t>Model comparison, actual evaluation results, insights, and limitations.</a:t>
            </a:r>
          </a:p>
          <a:p>
            <a:pPr>
              <a:spcAft>
                <a:spcPts val="1300"/>
              </a:spcAft>
              <a:defRPr sz="1800">
                <a:solidFill>
                  <a:srgbClr val="283340"/>
                </a:solidFill>
              </a:defRPr>
            </a:pPr>
            <a:r>
              <a:t>Working application or deployment demonstration.</a:t>
            </a:r>
          </a:p>
          <a:p>
            <a:pPr>
              <a:spcAft>
                <a:spcPts val="1300"/>
              </a:spcAft>
              <a:defRPr sz="1800">
                <a:solidFill>
                  <a:srgbClr val="283340"/>
                </a:solidFill>
              </a:defRPr>
            </a:pPr>
            <a:r>
              <a:t>Project report, presentation, organised code, and README.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7482"/>
                </a:solidFill>
              </a:defRPr>
            </a:pPr>
            <a:r>
              <a:t>Machine Learning PBL  •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